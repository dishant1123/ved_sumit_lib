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MACHINE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Hyperplanes &amp; Margins  •  Support Vectors  •  Kernels  •  A Fully Worked Numerical Example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3891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hyperplane that separates two classes while maximizing the margin between them.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Support Vector Machine?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ML algorithm used for classification and regression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boundary that separates data points of different classes in the feature space.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form:  w · x + b = 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470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SVMs learn from labeled training data — each point already has a known class — and generalize to classify new, unseen points.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Classifying Cats vs Dogs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animals into cats (+1) and dogs (−1) using weight and height as features.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206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Hyperplane:  3×Weight + 2×Height − 50 = 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4434840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4348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point that satisfies the equation lies exactly on the boundary — points on either side are classified as cat or dog.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Vectors &amp; Margin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points that are closest to the hyperplane. These points influence the orientation and position of the hyperplane.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474720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4747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alone determine the decision boundary — all other points could be removed without changing it.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name “Support Vector Machine”?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is entirely built — or “supported” — by these critical boundary points.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7804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3317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the hyperplane and the nearest data point of either class.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3017520"/>
            <a:ext cx="480060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017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tries to maximize this margin to improve classification confidence.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4160520"/>
            <a:ext cx="0" cy="173736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4160520"/>
            <a:ext cx="0" cy="1737360"/>
          </a:xfrm>
          <a:prstGeom prst="line">
            <a:avLst/>
          </a:prstGeom>
          <a:noFill/>
          <a:ln w="15875">
            <a:solidFill>
              <a:srgbClr val="9FD3E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412480" y="4160520"/>
            <a:ext cx="0" cy="1737360"/>
          </a:xfrm>
          <a:prstGeom prst="line">
            <a:avLst/>
          </a:prstGeom>
          <a:noFill/>
          <a:ln w="15875">
            <a:solidFill>
              <a:srgbClr val="9FD3E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635240" y="5943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3867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4160520"/>
            <a:ext cx="914400" cy="201168"/>
          </a:xfrm>
          <a:prstGeom prst="leftRightArrow">
            <a:avLst/>
          </a:prstGeom>
          <a:solidFill>
            <a:srgbClr val="9FD3E8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Margin vs Soft Margin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Margin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the data is perfectly separable by the hyperplane. All points must lie outside the margin.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AF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204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when classes are cleanly separable — sensitive to outliers.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5087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920240"/>
            <a:ext cx="530352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08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Margin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some misclassification or margin violations for data that is not linearly separable.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52044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5204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and robust for real-world, noisy datasets.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margin → use when data is cleanly, linearly separable.  Soft margin → use when data has noise, overlap, or outliers — which is most real-world data.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 Trick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kernel function transforms data into a higher-dimensional space to make it linearly separable.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linearly separable data — no transformation needed.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783080"/>
            <a:ext cx="10972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Kernel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curved decision boundaries using polynomial feature combinations.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109728" cy="1828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(Gaussian) Kernel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to infinite dimensions — handles complex, non-linear boundaries.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8862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886200"/>
            <a:ext cx="109728" cy="1828800"/>
          </a:xfrm>
          <a:prstGeom prst="rect">
            <a:avLst/>
          </a:prstGeom>
          <a:solidFill>
            <a:srgbClr val="3E6E8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Kernel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a neural network activation function; used in specific cases.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Optimal Hyperplane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 following set of data points. Find the optimal hyperplane.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0.5), (1, 1), (1, -0.5), (-0.5, 0.5), (0.5, 0.5), (2, 0), (4, 0), (4.5, 1), (4.5, 0.5), (5, -1), (5.5, 0)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43000" y="2862072"/>
            <a:ext cx="10469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8620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all the points on the plane.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3520440"/>
            <a:ext cx="10469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520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support vectors.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4178808"/>
            <a:ext cx="10469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1788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bias (b) value to convert 2D vectors to 3D form.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43000" y="4837176"/>
            <a:ext cx="10469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83717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parameter to every support vector: α₁, α₂, etc.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138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43000" y="5495544"/>
            <a:ext cx="10469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549554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solve the linear equations to find the parameter values.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STEPS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the Points &amp; Identify Support Vectors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749808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817620"/>
            <a:ext cx="7498080" cy="0"/>
          </a:xfrm>
          <a:prstGeom prst="line">
            <a:avLst/>
          </a:prstGeom>
          <a:noFill/>
          <a:ln w="15875">
            <a:solidFill>
              <a:srgbClr val="B9C9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4114" y="1554480"/>
            <a:ext cx="0" cy="4526280"/>
          </a:xfrm>
          <a:prstGeom prst="line">
            <a:avLst/>
          </a:prstGeom>
          <a:noFill/>
          <a:ln w="15875">
            <a:solidFill>
              <a:srgbClr val="B9C9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11234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82389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53543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24697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95851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067006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38160" y="38724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50392" y="59801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50392" y="52257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0392" y="44714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0392" y="29626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50392" y="22082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0392" y="14538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4121" y="302209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4121" y="226771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4121" y="453085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1317389" y="302209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2388543" y="302209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3995275" y="377647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6137583" y="377647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3161" y="226771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3161" y="302209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Shape 28"/>
          <p:cNvSpPr/>
          <p:nvPr/>
        </p:nvSpPr>
        <p:spPr>
          <a:xfrm>
            <a:off x="7208738" y="528523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Shape 29"/>
          <p:cNvSpPr/>
          <p:nvPr/>
        </p:nvSpPr>
        <p:spPr>
          <a:xfrm>
            <a:off x="7744315" y="377647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880975" y="3662172"/>
            <a:ext cx="310896" cy="310896"/>
          </a:xfrm>
          <a:prstGeom prst="ellipse">
            <a:avLst/>
          </a:prstGeom>
          <a:ln w="28575">
            <a:solidFill>
              <a:srgbClr val="D98E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3283" y="3662172"/>
            <a:ext cx="310896" cy="310896"/>
          </a:xfrm>
          <a:prstGeom prst="ellipse">
            <a:avLst/>
          </a:prstGeom>
          <a:ln w="28575">
            <a:solidFill>
              <a:srgbClr val="D98E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44983" y="33147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7291" y="33147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95360" y="1554480"/>
            <a:ext cx="3108960" cy="45262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15400" y="219456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9189720" y="20939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−1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915400" y="265176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9189720" y="25511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915400" y="3108960"/>
            <a:ext cx="146304" cy="146304"/>
          </a:xfrm>
          <a:prstGeom prst="ellipse">
            <a:avLst/>
          </a:prstGeom>
          <a:solidFill>
            <a:srgbClr val="D98E1C"/>
          </a:solidFill>
          <a:ln/>
        </p:spPr>
      </p:sp>
      <p:sp>
        <p:nvSpPr>
          <p:cNvPr id="43" name="Text 41"/>
          <p:cNvSpPr/>
          <p:nvPr/>
        </p:nvSpPr>
        <p:spPr>
          <a:xfrm>
            <a:off x="9189720" y="30083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69680" y="3703320"/>
            <a:ext cx="2606040" cy="2194560"/>
          </a:xfrm>
          <a:prstGeom prst="roundRect">
            <a:avLst>
              <a:gd name="adj" fmla="val 2917"/>
            </a:avLst>
          </a:prstGeom>
          <a:solidFill>
            <a:srgbClr val="EAF2F6"/>
          </a:solidFill>
          <a:ln/>
        </p:spPr>
      </p:sp>
      <p:sp>
        <p:nvSpPr>
          <p:cNvPr id="45" name="Text 43"/>
          <p:cNvSpPr/>
          <p:nvPr/>
        </p:nvSpPr>
        <p:spPr>
          <a:xfrm>
            <a:off x="905256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points between the two clusters: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052560" y="4389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 = (2, 0)  — Class −1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S₂ = (4, 0)  — Class +1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052560" y="5074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points alone will define the hyperplane.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STEPS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Bias &amp; Assign Parameters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bias coordinate (value 1) to each support vector, converting 2D → 3D.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(2D): (2, 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71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(3D, bias appended):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1455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(2, 0, 1)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770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parameter: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1330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α₁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(2D): (4, 0)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283464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EA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871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(3D, bias appended):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1455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(4, 0, 1)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374904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8770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parameter: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41330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α₂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166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support vector gets its own α parameter — these are the unknowns we solve for next.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the Linear Equations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support vector must satisfy its class constraint using dot products with both support vectors.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3852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S₁ (Class −1):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α₁(S₁·S₁) + α₂(S₂·S₁) = −1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α₁(5) + α₂(9) = −1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514600"/>
            <a:ext cx="2788920" cy="777240"/>
          </a:xfrm>
          <a:prstGeom prst="roundRect">
            <a:avLst>
              <a:gd name="adj" fmla="val 8235"/>
            </a:avLst>
          </a:prstGeom>
          <a:solidFill>
            <a:srgbClr val="EAF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5146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5α₁ + 9α₂ = −1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8736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87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4087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S₂ (Class +1):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α₁(S₁·S₂) + α₂(S₂·S₂) = +1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α₁(9) + α₂(17) = +1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4663440"/>
            <a:ext cx="2788920" cy="777240"/>
          </a:xfrm>
          <a:prstGeom prst="roundRect">
            <a:avLst>
              <a:gd name="adj" fmla="val 8235"/>
            </a:avLst>
          </a:prstGeom>
          <a:solidFill>
            <a:srgbClr val="EA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46634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9α₁ + 17α₂ = 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&amp; Find the Final Hyperplane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66344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System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5α₁ + 9α₂ = −1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9α₁ + 17α₂ = 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036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α₁ = −6.5      α₂ = 3.5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Weight Vector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w̄ = α₁S₁ + α₂S₂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−6.5(2,0,1) + 3.5(4,0,1)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(−13,0,−6.5) + (14,0,3.5)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5349240"/>
            <a:ext cx="3977640" cy="594360"/>
          </a:xfrm>
          <a:prstGeom prst="roundRect">
            <a:avLst>
              <a:gd name="adj" fmla="val 9231"/>
            </a:avLst>
          </a:prstGeom>
          <a:solidFill>
            <a:srgbClr val="9FD3E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3492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w̄ = (1, 0, −3)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1554480"/>
            <a:ext cx="6080760" cy="3794760"/>
          </a:xfrm>
          <a:prstGeom prst="roundRect">
            <a:avLst>
              <a:gd name="adj" fmla="val 964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3451860"/>
            <a:ext cx="6080760" cy="0"/>
          </a:xfrm>
          <a:prstGeom prst="line">
            <a:avLst/>
          </a:prstGeom>
          <a:noFill/>
          <a:ln w="15875">
            <a:solidFill>
              <a:srgbClr val="B9C9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554480"/>
            <a:ext cx="0" cy="3794760"/>
          </a:xfrm>
          <a:prstGeom prst="line">
            <a:avLst/>
          </a:prstGeom>
          <a:noFill/>
          <a:ln w="15875">
            <a:solidFill>
              <a:srgbClr val="B9C9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8660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5528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2396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9264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6132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35067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59552" y="52486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59552" y="46161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59552" y="398373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59552" y="27188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59552" y="20863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59552" y="14538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28332" y="277825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8332" y="214579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8332" y="404317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Shape 32"/>
          <p:cNvSpPr/>
          <p:nvPr/>
        </p:nvSpPr>
        <p:spPr>
          <a:xfrm>
            <a:off x="5925312" y="277825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Shape 33"/>
          <p:cNvSpPr/>
          <p:nvPr/>
        </p:nvSpPr>
        <p:spPr>
          <a:xfrm>
            <a:off x="6793992" y="277825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Shape 34"/>
          <p:cNvSpPr/>
          <p:nvPr/>
        </p:nvSpPr>
        <p:spPr>
          <a:xfrm>
            <a:off x="8097012" y="341071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Shape 35"/>
          <p:cNvSpPr/>
          <p:nvPr/>
        </p:nvSpPr>
        <p:spPr>
          <a:xfrm>
            <a:off x="9834372" y="341071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68712" y="214579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68712" y="277825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Shape 38"/>
          <p:cNvSpPr/>
          <p:nvPr/>
        </p:nvSpPr>
        <p:spPr>
          <a:xfrm>
            <a:off x="10703052" y="467563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1" name="Shape 39"/>
          <p:cNvSpPr/>
          <p:nvPr/>
        </p:nvSpPr>
        <p:spPr>
          <a:xfrm>
            <a:off x="11137392" y="341071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Shape 40"/>
          <p:cNvSpPr/>
          <p:nvPr/>
        </p:nvSpPr>
        <p:spPr>
          <a:xfrm>
            <a:off x="7982712" y="3296412"/>
            <a:ext cx="310896" cy="310896"/>
          </a:xfrm>
          <a:prstGeom prst="ellipse">
            <a:avLst/>
          </a:prstGeom>
          <a:ln w="28575">
            <a:solidFill>
              <a:srgbClr val="D98E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20072" y="3296412"/>
            <a:ext cx="310896" cy="310896"/>
          </a:xfrm>
          <a:prstGeom prst="ellipse">
            <a:avLst/>
          </a:prstGeom>
          <a:ln w="28575">
            <a:solidFill>
              <a:srgbClr val="D98E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06840" y="1554480"/>
            <a:ext cx="0" cy="3794760"/>
          </a:xfrm>
          <a:prstGeom prst="line">
            <a:avLst/>
          </a:prstGeom>
          <a:noFill/>
          <a:ln w="31750">
            <a:solidFill>
              <a:srgbClr val="1F9D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61704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= 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32120" y="5486400"/>
            <a:ext cx="6080760" cy="685800"/>
          </a:xfrm>
          <a:prstGeom prst="roundRect">
            <a:avLst>
              <a:gd name="adj" fmla="val 9333"/>
            </a:avLst>
          </a:prstGeom>
          <a:solidFill>
            <a:srgbClr val="21295C"/>
          </a:solidFill>
          <a:ln/>
        </p:spPr>
      </p:sp>
      <p:sp>
        <p:nvSpPr>
          <p:cNvPr id="47" name="Text 45"/>
          <p:cNvSpPr/>
          <p:nvPr/>
        </p:nvSpPr>
        <p:spPr>
          <a:xfrm>
            <a:off x="5715000" y="5486400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hyperplane:  w·x + b = 0  →  1·x₁ + 0·x₂ − 3 = 0  →  x₁ = 3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finds the hyperplane that best separates two classes: w·x + b =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 are the closest points to the hyperplane — they define it entirely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840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distance from hyperplane to nearest points; SVM maximizes 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margin assumes perfect separability; soft margin allows some violations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8892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(linear, polynomial, RBF, sigmoid) project data into higher dimensions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40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two support vectors S₁=(2,0), S₂=(4,0) → hyperplane x₁ =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2026-08-26T03:07:30Z</dcterms:created>
  <dcterms:modified xsi:type="dcterms:W3CDTF">2026-08-26T03:07:30Z</dcterms:modified>
</cp:coreProperties>
</file>