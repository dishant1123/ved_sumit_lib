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Classification, regression, tree structure, splitting, entropy and information 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3864"/>
                </a:solidFill>
              </a:defRPr>
            </a:pPr>
            <a:r>
              <a:t>Machine Learning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0440" y="114300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95959"/>
                </a:solidFill>
              </a:defRPr>
            </a:pPr>
            <a:r>
              <a:t>Used for both classification and regression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0136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3864"/>
                </a:solidFill>
              </a:defRPr>
            </a:pPr>
            <a:r>
              <a:t>Tree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0136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95959"/>
                </a:solidFill>
              </a:defRPr>
            </a:pPr>
            <a:r>
              <a:t>A tree is built from decision nodes, branches and leaf nodes.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3864"/>
                </a:solidFill>
              </a:defRPr>
            </a:pPr>
            <a:r>
              <a:t>Decision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459736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95959"/>
                </a:solidFill>
              </a:defRPr>
            </a:pPr>
            <a:r>
              <a:t>Ask a question about a feature, such as Weather or Temperature.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18104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3864"/>
                </a:solidFill>
              </a:defRPr>
            </a:pPr>
            <a:r>
              <a:t>Leaf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118104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95959"/>
                </a:solidFill>
              </a:defRPr>
            </a:pPr>
            <a:r>
              <a:t>Give the final prediction, such as Yes or 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7647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3864"/>
                </a:solidFill>
              </a:defRPr>
            </a:pPr>
            <a:r>
              <a:t>Splitting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776472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95959"/>
                </a:solidFill>
              </a:defRPr>
            </a:pPr>
            <a:r>
              <a:t>Divide the dataset into smaller groups using the best feature.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3864"/>
                </a:solidFill>
              </a:defRPr>
            </a:pPr>
            <a:r>
              <a:t>Entropy &amp; Information 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43484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95959"/>
                </a:solidFill>
              </a:defRPr>
            </a:pPr>
            <a:r>
              <a:t>Measure how useful a split is for separating the target classes.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93207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3864"/>
                </a:solidFill>
              </a:defRPr>
            </a:pPr>
            <a:r>
              <a:t>Pruning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5093207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95959"/>
                </a:solidFill>
              </a:defRPr>
            </a:pPr>
            <a:r>
              <a:t>Remove unnecessary branches to reduce overfitting.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5166360"/>
            <a:ext cx="2011680" cy="5943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6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864"/>
                </a:solidFill>
              </a:defRPr>
            </a:pPr>
            <a:r>
              <a:t>Weather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549640" y="5760720"/>
            <a:ext cx="868680" cy="594360"/>
          </a:xfrm>
          <a:prstGeom prst="line">
            <a:avLst/>
          </a:prstGeom>
          <a:ln w="19050">
            <a:solidFill>
              <a:srgbClr val="467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18320" y="5760720"/>
            <a:ext cx="868680" cy="594360"/>
          </a:xfrm>
          <a:prstGeom prst="line">
            <a:avLst/>
          </a:prstGeom>
          <a:ln w="19050">
            <a:solidFill>
              <a:srgbClr val="467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01000" y="63276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95959"/>
                </a:solidFill>
              </a:defRPr>
            </a:pPr>
            <a:r>
              <a:t>Sunny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63276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95959"/>
                </a:solidFill>
              </a:defRPr>
            </a:pPr>
            <a:r>
              <a:t>Rain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Decision Tree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Example: predicting whether to Play Football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051560"/>
            <a:ext cx="2560320" cy="658368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6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t>Weather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2423160" y="1709928"/>
            <a:ext cx="3566160" cy="713232"/>
          </a:xfrm>
          <a:prstGeom prst="line">
            <a:avLst/>
          </a:prstGeom>
          <a:ln w="21590">
            <a:solidFill>
              <a:srgbClr val="467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28800" y="22128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Sunny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5669280" y="1709928"/>
            <a:ext cx="320040" cy="713232"/>
          </a:xfrm>
          <a:prstGeom prst="line">
            <a:avLst/>
          </a:prstGeom>
          <a:ln w="21590">
            <a:solidFill>
              <a:srgbClr val="467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74920" y="22128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Cloudy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1709928"/>
            <a:ext cx="2880360" cy="713232"/>
          </a:xfrm>
          <a:prstGeom prst="line">
            <a:avLst/>
          </a:prstGeom>
          <a:ln w="21590">
            <a:solidFill>
              <a:srgbClr val="467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75320" y="22128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514600"/>
            <a:ext cx="2103120" cy="59436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6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864"/>
                </a:solidFill>
              </a:defRPr>
            </a:pPr>
            <a:r>
              <a:t>Temperature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67512" y="3108960"/>
            <a:ext cx="1801368" cy="594360"/>
          </a:xfrm>
          <a:prstGeom prst="line">
            <a:avLst/>
          </a:prstGeom>
          <a:ln w="17780">
            <a:solidFill>
              <a:srgbClr val="467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8600" y="35204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95959"/>
                </a:solidFill>
              </a:defRPr>
            </a:pPr>
            <a:r>
              <a:t>Hot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947672" y="3108960"/>
            <a:ext cx="521208" cy="594360"/>
          </a:xfrm>
          <a:prstGeom prst="line">
            <a:avLst/>
          </a:prstGeom>
          <a:ln w="17780">
            <a:solidFill>
              <a:srgbClr val="467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08760" y="35204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95959"/>
                </a:solidFill>
              </a:defRPr>
            </a:pPr>
            <a:r>
              <a:t>Mild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3108960"/>
            <a:ext cx="758952" cy="594360"/>
          </a:xfrm>
          <a:prstGeom prst="line">
            <a:avLst/>
          </a:prstGeom>
          <a:ln w="17780">
            <a:solidFill>
              <a:srgbClr val="467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88920" y="35204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95959"/>
                </a:solidFill>
              </a:defRPr>
            </a:pPr>
            <a:r>
              <a:t>Cool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514600"/>
            <a:ext cx="14173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514600"/>
            <a:ext cx="14173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Yes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3886200"/>
            <a:ext cx="1325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864"/>
                </a:solidFill>
              </a:defRPr>
            </a:pPr>
            <a: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3886200"/>
            <a:ext cx="1325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864"/>
                </a:solidFill>
              </a:defRPr>
            </a:pPr>
            <a:r>
              <a:t>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3886200"/>
            <a:ext cx="1325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864"/>
                </a:solidFill>
              </a:defRPr>
            </a:pPr>
            <a: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92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Decision nodes = questions     •     Branches = outcomes     •     Leaf nodes = final predictions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Weather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14 observations used to demonstrate Decision Tree splitting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385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965960"/>
                <a:gridCol w="1965960"/>
                <a:gridCol w="1828800"/>
                <a:gridCol w="1737360"/>
                <a:gridCol w="3017520"/>
              </a:tblGrid>
              <a:tr h="356616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Day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Weather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Humidity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Wind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Play Football?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1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Sunny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Hot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Sunny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3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Cloudy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Hot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95959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95959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5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Rain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Cool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95959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Cool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7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Cloudy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Cool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95959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Sunny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9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Sunny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Cool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95959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95959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11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Sunny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95959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Cloudy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95959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13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Cloudy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Hot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95959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Day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95959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Calculate Information Gain of Weather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Using Entropy to decide the best first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</a:defRPr>
            </a:pPr>
            <a:r>
              <a:t>Step 1: Entropy of the entire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95959"/>
                </a:solidFill>
              </a:defRPr>
            </a:pPr>
            <a:r>
              <a:t>S = {+9, −5}     Entropy(S) = −(9/14) log₂(9/14) − (5/14) log₂(5/14) = 0.94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</a:defRPr>
            </a:pPr>
            <a:r>
              <a:t>Step 2: Entropy after splitting by Weather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78608"/>
            <a:ext cx="2194560" cy="530352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6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Sunny {+2, −3}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615184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95959"/>
                </a:solidFill>
              </a:defRPr>
            </a:pPr>
            <a:r>
              <a:t>−(2/5) log₂(2/5) − (3/5) log₂(3/5) = 0.971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00400"/>
            <a:ext cx="2194560" cy="530352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6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Cloudy {+4, −0}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236976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95959"/>
                </a:solidFill>
              </a:defRPr>
            </a:pPr>
            <a:r>
              <a:t>−(4/4) log₂(4/4) − (0/4) log₂(0/4)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22191"/>
            <a:ext cx="2194560" cy="530352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46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Rain {+3, −2}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85876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95959"/>
                </a:solidFill>
              </a:defRPr>
            </a:pPr>
            <a:r>
              <a:t>−(3/5) log₂(3/5) − (2/5) log₂(2/5) = 0.971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537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</a:defRPr>
            </a:pPr>
            <a:r>
              <a:t>Step 3: Information 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83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95959"/>
                </a:solidFill>
              </a:defRPr>
            </a:pPr>
            <a:r>
              <a:t>IG(Weather) = Entropy(S) − (5/14)Ent(Sunny) − (4/14)Ent(Cloudy) − (5/14)Ent(Rain)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5596128"/>
            <a:ext cx="5120640" cy="621792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6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t>IG(Weather) = 0.94 − 0.694 ≈ 0.246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562356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8060"/>
                </a:solidFill>
              </a:defRPr>
            </a:pPr>
            <a:r>
              <a:t>Higher Information Gain</a:t>
            </a:r>
            <a:br/>
            <a:r>
              <a:t>→ better split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