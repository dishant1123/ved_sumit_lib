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Skill</c:v>
                </c:pt>
              </c:strCache>
            </c:strRef>
          </c:tx>
          <c:spPr>
            <a:solidFill>
              <a:srgbClr val="5C7480"/>
            </a:solidFill>
            <a:ln w="19050" cap="flat">
              <a:solidFill>
                <a:srgbClr val="5C748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5C7480"/>
              </a:solidFill>
              <a:ln w="9525" cap="flat">
                <a:solidFill>
                  <a:srgbClr val="5C7480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FFFFFF"/>
                    </a:solidFill>
                    <a:latin typeface="Arial"/>
                  </a:rPr>
                  <a:t>FPR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3E6E8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FFFFFF"/>
                    </a:solidFill>
                    <a:latin typeface="Arial"/>
                  </a:rPr>
                  <a:t>TPR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Curve</c:v>
                </c:pt>
              </c:strCache>
            </c:strRef>
          </c:tx>
          <c:spPr>
            <a:solidFill>
              <a:srgbClr val="D98E1C"/>
            </a:solidFill>
            <a:ln w="38100" cap="flat">
              <a:solidFill>
                <a:srgbClr val="D98E1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D98E1C"/>
              </a:solidFill>
              <a:ln w="9525" cap="flat">
                <a:solidFill>
                  <a:srgbClr val="D98E1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0.5</c:v>
                </c:pt>
                <c:pt idx="5">
                  <c:v>0.7</c:v>
                </c:pt>
                <c:pt idx="6">
                  <c:v>1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0.5</c:v>
                </c:pt>
                <c:pt idx="2">
                  <c:v>0.75</c:v>
                </c:pt>
                <c:pt idx="3">
                  <c:v>0.85</c:v>
                </c:pt>
                <c:pt idx="4">
                  <c:v>0.98</c:v>
                </c:pt>
                <c:pt idx="5">
                  <c:v>0.99</c:v>
                </c:pt>
                <c:pt idx="6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1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 Curve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0.95</c:v>
                </c:pt>
                <c:pt idx="1">
                  <c:v>0.92</c:v>
                </c:pt>
                <c:pt idx="2">
                  <c:v>0.87</c:v>
                </c:pt>
                <c:pt idx="3">
                  <c:v>0.78</c:v>
                </c:pt>
                <c:pt idx="4">
                  <c:v>0.6</c:v>
                </c:pt>
                <c:pt idx="5">
                  <c:v>0.3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FFFFFF"/>
                    </a:solidFill>
                    <a:latin typeface="Arial"/>
                  </a:rPr>
                  <a:t>Recall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E6E8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FFFFFF"/>
                    </a:solidFill>
                    <a:latin typeface="Arial"/>
                  </a:rPr>
                  <a:t>Precision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MODEL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Evaluation Metrics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 •  AUC Score  •  Precision–Recall Curve  •  Log Loss  •  Why Accuracy Can Mislead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48056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threshold, ROC/AUC and PR curves show how a model performs across every possible decision threshold.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ROC Curve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well a model separates two classes across every probability threshold.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 True Positive Rate (TPR)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 False Positive Rate (FPR)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 (Recall) = TP / (TP+FN)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 = FP / (FP+TN)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threshold changes, both TPR and FPR shift — the ROC curve traces this out.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49240" y="1691640"/>
            <a:ext cx="6263640" cy="4617720"/>
          </a:xfrm>
          <a:prstGeom prst="roundRect">
            <a:avLst>
              <a:gd name="adj" fmla="val 198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595360" y="1947672"/>
            <a:ext cx="365760" cy="0"/>
          </a:xfrm>
          <a:prstGeom prst="line">
            <a:avLst/>
          </a:prstGeom>
          <a:noFill/>
          <a:ln w="38100">
            <a:solidFill>
              <a:srgbClr val="D98E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29800" y="1947672"/>
            <a:ext cx="365760" cy="0"/>
          </a:xfrm>
          <a:prstGeom prst="line">
            <a:avLst/>
          </a:prstGeom>
          <a:noFill/>
          <a:ln w="19050">
            <a:solidFill>
              <a:srgbClr val="5C748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241280" y="1828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623560" y="21945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5623560" y="21945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— Practical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prediction model can shift its probability threshold to trade off TPR vs FPR.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28346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4572000" cy="1463040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92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Threshold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5212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= very strict     0.5 = normal     0.2 = more predicted positive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9240" y="1737360"/>
            <a:ext cx="626364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1920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t = 0.50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23560" y="24231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F9D55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8686800" y="24231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D98E1C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69680" y="2926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5623560" y="3977640"/>
            <a:ext cx="5715000" cy="109728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9776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≈ 0.85 — indicates strong separation between classes.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23560" y="5212080"/>
            <a:ext cx="5715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threshold reduces false positives but may miss some true cases. A lower threshold catches more disease cases but raises false alarms.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Score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Area Under the ROC Curve — summarizes the curve into a single number.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669280" cy="329184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</a:tblGrid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 – 1.0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 – 0.9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 – 0.8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8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guessing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0.5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6916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4572000" cy="777240"/>
          </a:xfrm>
          <a:prstGeom prst="roundRect">
            <a:avLst>
              <a:gd name="adj" fmla="val 8235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377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0.91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6656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excellent ability to distinguish positive and negative classes.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166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2F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3035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577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ranking/discrimination ability — it does not directly tell you whether your chosen classification threshold is appropriate.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Precision–Recall Curve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relationship between Precision and Recall at different thresholds.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(TP+FP)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everything the model predicted as positive, how many were actually positive?”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43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(TP+FN)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all the actual positive cases, how many did the model find?”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 Shape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0" y="2331720"/>
          <a:ext cx="4937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Curve — Fraud Detection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monitors 10,000 transactions, only 100 of which are actually fraudulent.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transactions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fraudulent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 genuine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transactions predicted as fraud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</a:t>
            </a:r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actually fraud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genuine (false positives)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 actual frauds, 70 were caught.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/ 80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/ 100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We Use ROC vs PR?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51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reasonably balanced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37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overall class separation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care about both TPR and FPR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Curve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when: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265176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6517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is rare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33756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37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highly imbalanced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02336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0233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matter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57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99% Normal + 1% Fraud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curve is often more informative than ROC here, because it focuses directly on how well the model handles the rare positive class.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Loss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good the predicted probabilities are — not just whether the final class was correct.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— Binary Classification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LogLoss = −(1/N) Σ [y·log(p) + (1−y)·log(1−p)]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accuracy, Log Loss cares about how confident the model was — not only whether the predicted class was right.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4754880" cy="1508760"/>
          </a:xfrm>
          <a:prstGeom prst="roundRect">
            <a:avLst>
              <a:gd name="adj" fmla="val 424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57200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Log Loss = Better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result: Disease =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7889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predicts 0.51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92640" y="3063240"/>
            <a:ext cx="1463040" cy="502920"/>
          </a:xfrm>
          <a:prstGeom prst="roundRect">
            <a:avLst>
              <a:gd name="adj" fmla="val 45455"/>
            </a:avLst>
          </a:prstGeom>
          <a:solidFill>
            <a:srgbClr val="D98E1C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3063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confident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40233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294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predicts 0.95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92640" y="4297680"/>
            <a:ext cx="1463040" cy="502920"/>
          </a:xfrm>
          <a:prstGeom prst="roundRect">
            <a:avLst>
              <a:gd name="adj" fmla="val 45455"/>
            </a:avLst>
          </a:prstGeom>
          <a:solidFill>
            <a:srgbClr val="1F9D55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classify “Disease” correctly — but Model B's probability is far more useful.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Can Be Misleading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detection dataset with 9,900 normal and 100 fraud transactions.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every transaction as “Normal”.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754880" cy="822960"/>
          </a:xfrm>
          <a:prstGeom prst="roundRect">
            <a:avLst>
              <a:gd name="adj" fmla="val 7778"/>
            </a:avLst>
          </a:prstGeom>
          <a:solidFill>
            <a:srgbClr val="1F9D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9900/10000 = 99%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03520" cy="2240280"/>
          </a:xfrm>
          <a:prstGeom prst="roundRect">
            <a:avLst>
              <a:gd name="adj" fmla="val 4082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But…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detected = 0 / 100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practically useless for the one thing it was built to do: catch fraud.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Imbalanced Datasets, Use Instead: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251460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14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15400" y="251460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514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15400" y="329184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291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406908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690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915400" y="4069080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40690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plots TPR vs FPR across all thresholds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summarizes ROC into one number (0–1)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 plots Precision vs Recall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 over ROC when positives are rare / imbalanced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rewards confident, correct probabilities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can hide a useless model on imbalanced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2026-09-07T03:09:56Z</dcterms:created>
  <dcterms:modified xsi:type="dcterms:W3CDTF">2026-09-07T03:09:56Z</dcterms:modified>
</cp:coreProperties>
</file>