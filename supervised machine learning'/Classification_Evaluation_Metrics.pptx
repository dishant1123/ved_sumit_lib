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MODEL EVALUATION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Evaluation Metrics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 •  Accuracy, Precision, Recall &amp; F1  •  A Worked Disease Prediction Example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943600" cy="1234440"/>
          </a:xfrm>
          <a:prstGeom prst="roundRect">
            <a:avLst>
              <a:gd name="adj" fmla="val 5926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29768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a model's predictions against actual outcomes, then summarize the results into metrics that reveal different kinds of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Classification Evaluation?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model predicts, we compare the actual value against the predicted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Example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Disease        0 → No Disease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one of these two classes for every patient.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37360"/>
          <a:ext cx="5669280" cy="2834640"/>
        </p:xfrm>
        <a:graphic>
          <a:graphicData uri="http://schemas.openxmlformats.org/drawingml/2006/table">
            <a:tbl>
              <a:tblPr/>
              <a:tblGrid>
                <a:gridCol w="1883664"/>
                <a:gridCol w="1892808"/>
                <a:gridCol w="1892808"/>
              </a:tblGrid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794760"/>
            <a:ext cx="5120640" cy="2514600"/>
          </a:xfrm>
          <a:prstGeom prst="roundRect">
            <a:avLst>
              <a:gd name="adj" fmla="val 3636"/>
            </a:avLst>
          </a:prstGeom>
          <a:solidFill>
            <a:srgbClr val="EAF2F6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Metrics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3434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looking at a few rows isn't enough. We need metrics that summarize how well the model performed across every prediction.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0" y="489204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489204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correct prediction     Red = incorrect prediction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Confusion Matrix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predictions into four categories.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394960" cy="233172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8288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Positive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Negative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Positive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Negative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062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3708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Remember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correct       </a:t>
            </a:r>
            <a:pPr indent="0" marL="0">
              <a:buNone/>
            </a:pPr>
            <a:r>
              <a:rPr lang="en-US" sz="1300" b="1" dirty="0">
                <a:solidFill>
                  <a:srgbClr val="F4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incorrect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166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= what the model predicted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5623560"/>
            <a:ext cx="4846320" cy="640080"/>
          </a:xfrm>
          <a:prstGeom prst="roundRect">
            <a:avLst>
              <a:gd name="adj" fmla="val 8571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6235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 columns    ·    Actual → rows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6916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72200" y="16916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F9D55"/>
          </a:solidFill>
          <a:ln/>
        </p:spPr>
      </p:sp>
      <p:sp>
        <p:nvSpPr>
          <p:cNvPr id="14" name="Shape 11"/>
          <p:cNvSpPr/>
          <p:nvPr/>
        </p:nvSpPr>
        <p:spPr>
          <a:xfrm>
            <a:off x="6172200" y="1965960"/>
            <a:ext cx="2606040" cy="27432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09360" y="23134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309360" y="26974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disease, model predicts disease.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915400" y="16916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15400" y="16916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F9D55"/>
          </a:solidFill>
          <a:ln/>
        </p:spPr>
      </p:sp>
      <p:sp>
        <p:nvSpPr>
          <p:cNvPr id="20" name="Shape 17"/>
          <p:cNvSpPr/>
          <p:nvPr/>
        </p:nvSpPr>
        <p:spPr>
          <a:xfrm>
            <a:off x="8915400" y="1965960"/>
            <a:ext cx="2606040" cy="27432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21" name="Text 18"/>
          <p:cNvSpPr/>
          <p:nvPr/>
        </p:nvSpPr>
        <p:spPr>
          <a:xfrm>
            <a:off x="905256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9052560" y="23134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052560" y="26974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disease, model predicts no disease.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72200" y="40690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72200" y="406908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26" name="Shape 23"/>
          <p:cNvSpPr/>
          <p:nvPr/>
        </p:nvSpPr>
        <p:spPr>
          <a:xfrm>
            <a:off x="6172200" y="4343400"/>
            <a:ext cx="260604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4069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309360" y="46908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309360" y="5074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disease, model predicts disease (false alarm).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915400" y="40690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915400" y="406908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32" name="Shape 29"/>
          <p:cNvSpPr/>
          <p:nvPr/>
        </p:nvSpPr>
        <p:spPr>
          <a:xfrm>
            <a:off x="8915400" y="4343400"/>
            <a:ext cx="260604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0"/>
          <p:cNvSpPr/>
          <p:nvPr/>
        </p:nvSpPr>
        <p:spPr>
          <a:xfrm>
            <a:off x="9052560" y="4069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9052560" y="46908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9052560" y="5074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disease, model predicts no disease (missed).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 — 100 Patients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TP, TN, FP, FN from a real confusion matrix.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66928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1920240"/>
              </a:tblGrid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Disease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No Disease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Disease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No Disease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7373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Values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766560" y="2377440"/>
            <a:ext cx="2240280" cy="640080"/>
          </a:xfrm>
          <a:prstGeom prst="roundRect">
            <a:avLst>
              <a:gd name="adj" fmla="val 8571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23774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40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89720" y="2377440"/>
            <a:ext cx="2240280" cy="640080"/>
          </a:xfrm>
          <a:prstGeom prst="roundRect">
            <a:avLst>
              <a:gd name="adj" fmla="val 8571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89720" y="23774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= 45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766560" y="3154680"/>
            <a:ext cx="2240280" cy="640080"/>
          </a:xfrm>
          <a:prstGeom prst="roundRect">
            <a:avLst>
              <a:gd name="adj" fmla="val 8571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3154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5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189720" y="3154680"/>
            <a:ext cx="2240280" cy="640080"/>
          </a:xfrm>
          <a:prstGeom prst="roundRect">
            <a:avLst>
              <a:gd name="adj" fmla="val 8571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89720" y="3154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10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498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Check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22960" y="48463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+ 45 + 5 + 10  =  100 patients ✓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predictions, how many were correct?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(TP + TN) / Total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(40 + 45) / (40+45+5+10)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85 / 100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4754880" cy="1691640"/>
          </a:xfrm>
          <a:prstGeom prst="roundRect">
            <a:avLst>
              <a:gd name="adj" fmla="val 3784"/>
            </a:avLst>
          </a:prstGeom>
          <a:solidFill>
            <a:srgbClr val="1F9D5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800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5486400" cy="2626614"/>
          </a:xfrm>
          <a:prstGeom prst="roundRect">
            <a:avLst>
              <a:gd name="adj" fmla="val 3481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847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148840"/>
            <a:ext cx="4937760" cy="2032254"/>
          </a:xfrm>
          <a:prstGeom prst="roundRect">
            <a:avLst>
              <a:gd name="adj" fmla="val 3600"/>
            </a:avLst>
          </a:prstGeom>
          <a:solidFill>
            <a:srgbClr val="0F2438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286000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TP, TN, FP, FN = 40, 45, 5, 10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2578989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2871978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(TP + TN) / (TP + TN + FP + FN)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75120" y="3164967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("Accuracy:", accuracy)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0" y="3457956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75120" y="3750945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8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0.85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patients predicted positive, how many were actually positive?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TP / (TP + FP)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(40 + 5)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40 / 45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4754880" cy="1691640"/>
          </a:xfrm>
          <a:prstGeom prst="roundRect">
            <a:avLst>
              <a:gd name="adj" fmla="val 3784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800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88.89%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5486400" cy="2040636"/>
          </a:xfrm>
          <a:prstGeom prst="roundRect">
            <a:avLst>
              <a:gd name="adj" fmla="val 4481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847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148840"/>
            <a:ext cx="4937760" cy="1446276"/>
          </a:xfrm>
          <a:prstGeom prst="roundRect">
            <a:avLst>
              <a:gd name="adj" fmla="val 5058"/>
            </a:avLst>
          </a:prstGeom>
          <a:solidFill>
            <a:srgbClr val="0F2438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286000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TP / (TP + FP)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2578989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("Precision:", precision)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2871978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75120" y="3164967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8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0.8889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3915156"/>
            <a:ext cx="5486400" cy="2257044"/>
          </a:xfrm>
          <a:prstGeom prst="roundRect">
            <a:avLst>
              <a:gd name="adj" fmla="val 4051"/>
            </a:avLst>
          </a:prstGeom>
          <a:solidFill>
            <a:srgbClr val="EA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0706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Precision important?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418076"/>
            <a:ext cx="4937760" cy="1754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False Positives are costly. Example: spam detection — a legitimate email marked as spam is a costly FP.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patients who actually have the disease, how many did the model correctly identify?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= TP / (TP + FN)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(40 + 10)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40 / 50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4754880" cy="1691640"/>
          </a:xfrm>
          <a:prstGeom prst="roundRect">
            <a:avLst>
              <a:gd name="adj" fmla="val 3784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800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5486400" cy="2040636"/>
          </a:xfrm>
          <a:prstGeom prst="roundRect">
            <a:avLst>
              <a:gd name="adj" fmla="val 4481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847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148840"/>
            <a:ext cx="4937760" cy="1446276"/>
          </a:xfrm>
          <a:prstGeom prst="roundRect">
            <a:avLst>
              <a:gd name="adj" fmla="val 5058"/>
            </a:avLst>
          </a:prstGeom>
          <a:solidFill>
            <a:srgbClr val="0F2438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286000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= TP / (TP + FN)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2578989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("Recall:", recall)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2871978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75120" y="3164967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8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0.80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3915156"/>
            <a:ext cx="5486400" cy="2257044"/>
          </a:xfrm>
          <a:prstGeom prst="roundRect">
            <a:avLst>
              <a:gd name="adj" fmla="val 4051"/>
            </a:avLst>
          </a:prstGeom>
          <a:solidFill>
            <a:srgbClr val="EA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0706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Recall important?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418076"/>
            <a:ext cx="4937760" cy="1754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False Negatives are costly. Example: cancer detection — missing a real case is far worse than a false alarm.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Precision and Recall into a single balanced metric.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2 × (Precision × Recall)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/ (Precision + Recall)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0.8889,  Recall = 0.80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(0.8889 × 0.80) / (0.8889 + 0.80)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4754880" cy="1691640"/>
          </a:xfrm>
          <a:prstGeom prst="roundRect">
            <a:avLst>
              <a:gd name="adj" fmla="val 3784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800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84.21%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847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148840"/>
            <a:ext cx="4937760" cy="1153287"/>
          </a:xfrm>
          <a:prstGeom prst="roundRect">
            <a:avLst>
              <a:gd name="adj" fmla="val 6343"/>
            </a:avLst>
          </a:prstGeom>
          <a:solidFill>
            <a:srgbClr val="0F2438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286000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2 * (precision * recall)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2578989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/ (precision + recall)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2871978"/>
            <a:ext cx="4389120" cy="292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("F1 Score:", f1)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384048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AF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23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F1?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4370832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balances Precision and Recall into one number — useful when you care about both false alarms and missed cases, or classes are imbalanced.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Metrics Together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TP = 40, TN = 45, FP = 5, FN = 10: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514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88.89%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2514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915400" y="173736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F9D5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98280" y="2514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84.21%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348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Story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(88.89%) is higher than Recall (80%) — the model is slightly more cautious about predicting disease, missing a few real cases (10 FN) while raising fewer false alarms (5 FP). F1 balances both into a single 84.21% score.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vs Recall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important concepts in classification evaluation.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774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the model says YES, how often is it correct?”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YES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3566160"/>
            <a:ext cx="274320" cy="228600"/>
          </a:xfrm>
          <a:prstGeom prst="downArrow">
            <a:avLst/>
          </a:prstGeom>
          <a:solidFill>
            <a:srgbClr val="9FD3E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are actually YES?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9FD3E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7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→ Predicted Positive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37744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3774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 all the actual YES cases, how many did the model find?”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246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YES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41080" y="3566160"/>
            <a:ext cx="274320" cy="228600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did the model find?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429768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297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→ Actual Positive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1206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Memory Trick:  Precision → Predicted Positive     ·     Recall → Actual Positive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Examples — Which Metric Matters?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absolute rules — the right metric depends on the cost of FP vs FN.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6583680"/>
                <a:gridCol w="4480560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Important Metric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screening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+ 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recognition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+ 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balanced 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+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Calculation Exercise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this confusion matrix, calculate TP, TN, FP, FN and every metric.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196596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73736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60020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17373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9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= 70    TN = 15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9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 = 5      FN = 10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7920" y="26060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directly from the matrix above.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977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4434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(70+15)/100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5029200"/>
            <a:ext cx="2240280" cy="822960"/>
          </a:xfrm>
          <a:prstGeom prst="roundRect">
            <a:avLst>
              <a:gd name="adj" fmla="val 7778"/>
            </a:avLst>
          </a:prstGeom>
          <a:solidFill>
            <a:srgbClr val="EAF2F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029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337560" y="37947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20440" y="3977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520440" y="4434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70/75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520440" y="5029200"/>
            <a:ext cx="2240280" cy="822960"/>
          </a:xfrm>
          <a:prstGeom prst="roundRect">
            <a:avLst>
              <a:gd name="adj" fmla="val 7778"/>
            </a:avLst>
          </a:prstGeom>
          <a:solidFill>
            <a:srgbClr val="EAF2F6"/>
          </a:solidFill>
          <a:ln/>
        </p:spPr>
      </p:sp>
      <p:sp>
        <p:nvSpPr>
          <p:cNvPr id="18" name="Text 15"/>
          <p:cNvSpPr/>
          <p:nvPr/>
        </p:nvSpPr>
        <p:spPr>
          <a:xfrm>
            <a:off x="3520440" y="5029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93.33%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126480" y="37947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3977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309360" y="4434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70/80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09360" y="5029200"/>
            <a:ext cx="2240280" cy="822960"/>
          </a:xfrm>
          <a:prstGeom prst="roundRect">
            <a:avLst>
              <a:gd name="adj" fmla="val 7778"/>
            </a:avLst>
          </a:prstGeom>
          <a:solidFill>
            <a:srgbClr val="EAF2F6"/>
          </a:solidFill>
          <a:ln/>
        </p:spPr>
      </p:sp>
      <p:sp>
        <p:nvSpPr>
          <p:cNvPr id="23" name="Text 20"/>
          <p:cNvSpPr/>
          <p:nvPr/>
        </p:nvSpPr>
        <p:spPr>
          <a:xfrm>
            <a:off x="6309360" y="5029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8915400" y="37947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98280" y="3977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9098280" y="4434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2×(P×R)/(P+R)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098280" y="5029200"/>
            <a:ext cx="2240280" cy="822960"/>
          </a:xfrm>
          <a:prstGeom prst="roundRect">
            <a:avLst>
              <a:gd name="adj" fmla="val 7778"/>
            </a:avLst>
          </a:prstGeom>
          <a:solidFill>
            <a:srgbClr val="EAF2F6"/>
          </a:solidFill>
          <a:ln/>
        </p:spPr>
      </p:sp>
      <p:sp>
        <p:nvSpPr>
          <p:cNvPr id="28" name="Text 25"/>
          <p:cNvSpPr/>
          <p:nvPr/>
        </p:nvSpPr>
        <p:spPr>
          <a:xfrm>
            <a:off x="9098280" y="5029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90.32%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373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TP, TN, FP, FN summarize predictions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(TP+TN) / Total — overall correctness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840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TP/(TP+FP) — trust in positive predictions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373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TP/(TP+FN) — coverage of actual positives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78892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harmonic mean of Precision and Recall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840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choice depends on the cost of FP vs FN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2026-09-04T04:52:27Z</dcterms:created>
  <dcterms:modified xsi:type="dcterms:W3CDTF">2026-09-04T04:52:27Z</dcterms:modified>
</cp:coreProperties>
</file>