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solidFill>
              <a:srgbClr val="1F9D55"/>
            </a:solidFill>
            <a:ln w="38100" cap="flat">
              <a:solidFill>
                <a:srgbClr val="1F9D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9D55"/>
              </a:solidFill>
              <a:ln w="9525" cap="flat">
                <a:solidFill>
                  <a:srgbClr val="1F9D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78</c:v>
                </c:pt>
                <c:pt idx="2">
                  <c:v>85</c:v>
                </c:pt>
                <c:pt idx="3">
                  <c:v>90</c:v>
                </c:pt>
                <c:pt idx="4">
                  <c:v>95</c:v>
                </c:pt>
                <c:pt idx="5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Testing Accuracy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68</c:v>
                </c:pt>
                <c:pt idx="1">
                  <c:v>76</c:v>
                </c:pt>
                <c:pt idx="2">
                  <c:v>82</c:v>
                </c:pt>
                <c:pt idx="3">
                  <c:v>78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Training Iterations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D7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Pattern</c:v>
                </c:pt>
              </c:strCache>
            </c:strRef>
          </c:tx>
          <c:spPr>
            <a:solidFill>
              <a:srgbClr val="21295C"/>
            </a:solidFill>
            <a:ln w="3175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45</c:v>
                </c:pt>
                <c:pt idx="2">
                  <c:v>65</c:v>
                </c:pt>
                <c:pt idx="3">
                  <c:v>78</c:v>
                </c:pt>
                <c:pt idx="4">
                  <c:v>82</c:v>
                </c:pt>
                <c:pt idx="5">
                  <c:v>78</c:v>
                </c:pt>
                <c:pt idx="6">
                  <c:v>65</c:v>
                </c:pt>
                <c:pt idx="7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Pattern</c:v>
                </c:pt>
              </c:strCache>
            </c:strRef>
          </c:tx>
          <c:spPr>
            <a:solidFill>
              <a:srgbClr val="21295C"/>
            </a:solidFill>
            <a:ln w="3175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45</c:v>
                </c:pt>
                <c:pt idx="2">
                  <c:v>65</c:v>
                </c:pt>
                <c:pt idx="3">
                  <c:v>78</c:v>
                </c:pt>
                <c:pt idx="4">
                  <c:v>82</c:v>
                </c:pt>
                <c:pt idx="5">
                  <c:v>78</c:v>
                </c:pt>
                <c:pt idx="6">
                  <c:v>65</c:v>
                </c:pt>
                <c:pt idx="7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</c:v>
                </c:pt>
              </c:strCache>
            </c:strRef>
          </c:tx>
          <c:spPr>
            <a:solidFill>
              <a:srgbClr val="D98E1C"/>
            </a:solidFill>
            <a:ln w="31750" cap="flat">
              <a:solidFill>
                <a:srgbClr val="D98E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8E1C"/>
              </a:solidFill>
              <a:ln w="9525" cap="flat">
                <a:solidFill>
                  <a:srgbClr val="D98E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</c:v>
                </c:pt>
                <c:pt idx="1">
                  <c:v>60</c:v>
                </c:pt>
                <c:pt idx="2">
                  <c:v>40</c:v>
                </c:pt>
                <c:pt idx="3">
                  <c:v>90</c:v>
                </c:pt>
                <c:pt idx="4">
                  <c:v>60</c:v>
                </c:pt>
                <c:pt idx="5">
                  <c:v>95</c:v>
                </c:pt>
                <c:pt idx="6">
                  <c:v>40</c:v>
                </c:pt>
                <c:pt idx="7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Pattern</c:v>
                </c:pt>
              </c:strCache>
            </c:strRef>
          </c:tx>
          <c:spPr>
            <a:solidFill>
              <a:srgbClr val="21295C"/>
            </a:solidFill>
            <a:ln w="3175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45</c:v>
                </c:pt>
                <c:pt idx="2">
                  <c:v>65</c:v>
                </c:pt>
                <c:pt idx="3">
                  <c:v>78</c:v>
                </c:pt>
                <c:pt idx="4">
                  <c:v>82</c:v>
                </c:pt>
                <c:pt idx="5">
                  <c:v>78</c:v>
                </c:pt>
                <c:pt idx="6">
                  <c:v>65</c:v>
                </c:pt>
                <c:pt idx="7">
                  <c:v>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Prediction</c:v>
                </c:pt>
              </c:strCache>
            </c:strRef>
          </c:tx>
          <c:spPr>
            <a:solidFill>
              <a:srgbClr val="1F9D55"/>
            </a:solidFill>
            <a:ln w="31750" cap="flat">
              <a:solidFill>
                <a:srgbClr val="1F9D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9D55"/>
              </a:solidFill>
              <a:ln w="9525" cap="flat">
                <a:solidFill>
                  <a:srgbClr val="1F9D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24</c:v>
                </c:pt>
                <c:pt idx="1">
                  <c:v>42</c:v>
                </c:pt>
                <c:pt idx="2">
                  <c:v>63</c:v>
                </c:pt>
                <c:pt idx="3">
                  <c:v>75</c:v>
                </c:pt>
                <c:pt idx="4">
                  <c:v>80</c:v>
                </c:pt>
                <c:pt idx="5">
                  <c:v>76</c:v>
                </c:pt>
                <c:pt idx="6">
                  <c:v>62</c:v>
                </c:pt>
                <c:pt idx="7">
                  <c:v>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FOUNDATIONS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Machine Learning Concepts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Labels  •  Dataset Splitting  •  Overfitting &amp; Underfitting  •  Bias-Variance Tradeoff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4988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Prediction, used throughout every concept in this session.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used to understand every concept in this session.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9509760" cy="2377440"/>
        </p:xfrm>
        <a:graphic>
          <a:graphicData uri="http://schemas.openxmlformats.org/drawingml/2006/table">
            <a:tbl>
              <a:tblPr/>
              <a:tblGrid>
                <a:gridCol w="1901952"/>
                <a:gridCol w="1901952"/>
                <a:gridCol w="1901952"/>
                <a:gridCol w="1901952"/>
                <a:gridCol w="1901952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(sq ft)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(Years)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(km)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 Lakhs)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9509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Bedrooms, Age, Distance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51937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we know)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5074920"/>
            <a:ext cx="73152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5257800" y="4846320"/>
            <a:ext cx="246888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57800" y="480060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4800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09560" y="5074920"/>
            <a:ext cx="73152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778240" y="48463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0" y="519379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label)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Labels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365A6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(Input Variable)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used by the model to make predictions. Answers: “what information is available?”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1546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— size of house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68503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93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— number of bedrooms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2153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239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age of house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74573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6542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— distance from city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544068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EAF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4406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</a:t>
            </a:r>
            <a:pPr indent="0" marL="0">
              <a:buNone/>
            </a:pPr>
            <a:r>
              <a:rPr lang="en-US" sz="12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Predictor, Input, 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B304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17830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(Target Variable)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237744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that the model tries to predict.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Example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33101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(₹ Lakhs)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3886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Example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4224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Study Hours, Attendance, Assignments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Final Marks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521208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5212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Target, 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vs Dependent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 (X)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that do not depend on other variables — these are the inputs.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Predictor · Feature ·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 (Y)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that depends on the independent variables — this is the output.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846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Target · Output · Label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EAF2F6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2103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25603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55280" y="30175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3017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347472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3977640"/>
            <a:ext cx="365760" cy="365760"/>
          </a:xfrm>
          <a:prstGeom prst="downArrow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8120" y="44348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4434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(Y)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Area, Bedrooms, Age, Distance   →   Y = Price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Splitting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train and test a model on the same data — we split the dataset.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Split (Train / Test)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212080" cy="64008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(70–80%)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21488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488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Validation (Train / Validation / Test)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657600" cy="640080"/>
          </a:xfrm>
          <a:prstGeom prst="roundRect">
            <a:avLst>
              <a:gd name="adj" fmla="val 7143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(70%)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3383280"/>
            <a:ext cx="777240" cy="64008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0" y="40690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(15%)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74920" y="3383280"/>
            <a:ext cx="685800" cy="640080"/>
          </a:xfrm>
          <a:prstGeom prst="roundRect">
            <a:avLst>
              <a:gd name="adj" fmla="val 7143"/>
            </a:avLst>
          </a:prstGeom>
          <a:solidFill>
            <a:srgbClr val="9FD3E8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40690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AF2F6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teaching students with one set of questions, then examining them with new ones. If they still perform well, they've truly learned — not memorized.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1000 Records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83680" y="2606040"/>
            <a:ext cx="4754880" cy="822960"/>
          </a:xfrm>
          <a:prstGeom prst="roundRect">
            <a:avLst>
              <a:gd name="adj" fmla="val 777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6060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09760" y="2606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583680" y="3657600"/>
            <a:ext cx="4754880" cy="822960"/>
          </a:xfrm>
          <a:prstGeom prst="roundRect">
            <a:avLst>
              <a:gd name="adj" fmla="val 777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3657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09760" y="36576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0" y="4709160"/>
            <a:ext cx="4754880" cy="822960"/>
          </a:xfrm>
          <a:prstGeom prst="roundRect">
            <a:avLst>
              <a:gd name="adj" fmla="val 777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47091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09760" y="47091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Train, Test &amp; Validation 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76200" dist="25400" dir="5400000">
              <a:srgbClr val="365A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35204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teach the model. It learns patterns directly from this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29768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EAF2F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407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6817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of 1000 houses → used for training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15087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76200" dist="25400" dir="5400000">
              <a:srgbClr val="365A6B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50876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965960"/>
            <a:ext cx="35204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508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628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6060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while developing the model, to tune hyperparameters and pick the best model.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26280" y="429768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EAF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4407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46817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Decision Tree vs Random Forest vs Linear Regression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46720" y="15087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  <a:effectLst>
            <a:outerShdw sx="100000" sy="100000" kx="0" ky="0" algn="bl" rotWithShape="0" blurRad="76200" dist="25400" dir="5400000">
              <a:srgbClr val="365A6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150876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0" y="1965960"/>
            <a:ext cx="352044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1508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7532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~15–20%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5320" y="26060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performance on unseen data. The model never sees this during training.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4297680"/>
            <a:ext cx="3063240" cy="1463040"/>
          </a:xfrm>
          <a:prstGeom prst="roundRect">
            <a:avLst>
              <a:gd name="adj" fmla="val 3750"/>
            </a:avLst>
          </a:prstGeom>
          <a:solidFill>
            <a:srgbClr val="EAF2F6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4407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58200" y="46817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new houses → measures real prediction accuracy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memorizes training data instead of learning general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Pattern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E7F5E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231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Excellent on training data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918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Poor on new / unseen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memorizes every answer from last year's exam. The teacher changes the questions — the student cannot answer. They memorized, not understood.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Example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memorizes every training record exactly: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6656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B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0" y="3291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 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6656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44000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 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4343400"/>
            <a:ext cx="4754880" cy="1463040"/>
          </a:xfrm>
          <a:prstGeom prst="roundRect">
            <a:avLst>
              <a:gd name="adj" fmla="val 4375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45262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house arrives — the model has no memorized answer for it, so its prediction becomes poor.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Overfitting Happens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8191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8191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5915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5915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dataset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13639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13639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391363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91363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training iterations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000" y="469087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69087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noise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23560" y="1463040"/>
            <a:ext cx="59893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 Testing Accuracy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52160" y="196596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training continues, training accuracy keeps climbing while testing accuracy starts to fall.</a:t>
            </a:r>
            <a:endParaRPr lang="en-US" sz="11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852160" y="2514600"/>
          <a:ext cx="55321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too simple to learn the relationship in the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659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Poor on training data  ✗  Poor on test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studies only one chapter, but the exam covers ten. The student performs badly across the board.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Example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every house at ₹80 Lakhs — regardless of area, bedrooms, or location.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73736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Underfitting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51460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5146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simple model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29184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2918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training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406908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406908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4846320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3E6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8463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vs Complex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65960"/>
            <a:ext cx="53035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Linear Regression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to interpret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Less overfitting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Cannot learn complicated patterns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508760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965960"/>
            <a:ext cx="53035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Deep Neural Network, Random Forest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 learn complex patterns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Powerful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251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Can overfit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Bias–Variance Tradeoff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model balances two competing sources of error: bias and variance.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makes strong assumptions and is too simple.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4747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74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Underfitting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fitting a straight line to a curved relationship.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6092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changes too much with different training data and learns noise.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29400" y="34747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474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Overfitting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1605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following every tiny fluctuation, including noise.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(CONTINUED)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vs Variance — Visually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misses the real pattern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743200"/>
          <a:ext cx="3246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" y="498348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0292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far too simple — underfits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9392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37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07992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follows every fluctuation, including noise</a:t>
            </a:r>
            <a:endParaRPr lang="en-US" sz="11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416552" y="2743200"/>
          <a:ext cx="3246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4507992" y="498348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/>
        </p:spPr>
      </p:sp>
      <p:sp>
        <p:nvSpPr>
          <p:cNvPr id="15" name="Text 11"/>
          <p:cNvSpPr/>
          <p:nvPr/>
        </p:nvSpPr>
        <p:spPr>
          <a:xfrm>
            <a:off x="4645152" y="50292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chases noise — overfits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10144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38744" y="1737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Model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238744" y="2148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captures the overall trend, not the noise</a:t>
            </a:r>
            <a:endParaRPr lang="en-US" sz="1150" dirty="0"/>
          </a:p>
        </p:txBody>
      </p:sp>
      <p:graphicFrame>
        <p:nvGraphicFramePr>
          <p:cNvPr id="19" name="Chart 2" descr=""/>
          <p:cNvGraphicFramePr/>
          <p:nvPr/>
        </p:nvGraphicFramePr>
        <p:xfrm>
          <a:off x="8147304" y="2743200"/>
          <a:ext cx="3246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Shape 15"/>
          <p:cNvSpPr/>
          <p:nvPr/>
        </p:nvSpPr>
        <p:spPr>
          <a:xfrm>
            <a:off x="8238744" y="498348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5F9FB"/>
          </a:solidFill>
          <a:ln/>
        </p:spPr>
      </p:sp>
      <p:sp>
        <p:nvSpPr>
          <p:cNvPr id="21" name="Text 16"/>
          <p:cNvSpPr/>
          <p:nvPr/>
        </p:nvSpPr>
        <p:spPr>
          <a:xfrm>
            <a:off x="8375904" y="50292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generalizes well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2026-08-24T12:58:20Z</dcterms:created>
  <dcterms:modified xsi:type="dcterms:W3CDTF">2026-08-24T12:58:20Z</dcterms:modified>
</cp:coreProperties>
</file>