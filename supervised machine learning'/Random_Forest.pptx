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52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3524"/>
                </a:solidFill>
                <a:latin typeface="Arial"/>
              </a:rPr>
              <a:t>Accuracy plateaus after ~100 trees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2E8B57"/>
            </a:solidFill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50</c:v>
                  </c:pt>
                  <c:pt idx="2">
                    <c:v>100</c:v>
                  </c:pt>
                  <c:pt idx="3">
                    <c:v>200</c:v>
                  </c:pt>
                  <c:pt idx="4">
                    <c:v>300</c:v>
                  </c:pt>
                  <c:pt idx="5">
                    <c:v>500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</c:v>
                </c:pt>
                <c:pt idx="1">
                  <c:v>91</c:v>
                </c:pt>
                <c:pt idx="2">
                  <c:v>93</c:v>
                </c:pt>
                <c:pt idx="3">
                  <c:v>93</c:v>
                </c:pt>
                <c:pt idx="4">
                  <c:v>93</c:v>
                </c:pt>
                <c:pt idx="5">
                  <c:v>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n_estimators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85"/>
        </c:scaling>
        <c:delete val="0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52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3524"/>
                </a:solidFill>
                <a:latin typeface="Arial"/>
              </a:rPr>
              <a:t>Feature importance (student example)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Previous Marks</c:v>
                  </c:pt>
                  <c:pt idx="1">
                    <c:v>Attendance</c:v>
                  </c:pt>
                  <c:pt idx="2">
                    <c:v>Study Hours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0.17</c:v>
                </c:pt>
                <c:pt idx="1">
                  <c:v>0.31</c:v>
                </c:pt>
                <c:pt idx="2">
                  <c:v>0.52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D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2E8B57">
              <a:alpha val="70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A541">
              <a:alpha val="9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2E8B57">
              <a:alpha val="70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80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trees, one reliable prediction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Follows Decision Trees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Random Forest?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algorithm combining many Decision Trees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category / class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numerical value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one tree "Will this student pass?", ask many and take the majority.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1536192" cy="777240"/>
          </a:xfrm>
          <a:prstGeom prst="roundRect">
            <a:avLst>
              <a:gd name="adj" fmla="val 10588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297180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39696" y="2971800"/>
            <a:ext cx="1536192" cy="777240"/>
          </a:xfrm>
          <a:prstGeom prst="roundRect">
            <a:avLst>
              <a:gd name="adj" fmla="val 10588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39696" y="297180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22192" y="2971800"/>
            <a:ext cx="1536192" cy="777240"/>
          </a:xfrm>
          <a:prstGeom prst="roundRect">
            <a:avLst>
              <a:gd name="adj" fmla="val 10588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822192" y="297180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04688" y="2971800"/>
            <a:ext cx="1536192" cy="777240"/>
          </a:xfrm>
          <a:prstGeom prst="roundRect">
            <a:avLst>
              <a:gd name="adj" fmla="val 10588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504688" y="297180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87184" y="2971800"/>
            <a:ext cx="1536192" cy="777240"/>
          </a:xfrm>
          <a:prstGeom prst="roundRect">
            <a:avLst>
              <a:gd name="adj" fmla="val 10588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87184" y="297180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2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prediction: PASS  (majority voting)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Random Forest?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decision tree overfits easily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Decision Tree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complex tree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training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8862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test accuracy 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120640" y="1828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5146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12064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 · Tree 2 · Tree 3 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32004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12064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886200"/>
            <a:ext cx="3108960" cy="502920"/>
          </a:xfrm>
          <a:prstGeom prst="roundRect">
            <a:avLst>
              <a:gd name="adj" fmla="val 16364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20640" y="3886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less overfitting 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Random Forest Builds Its Trees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of randomness make trees different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50876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sampling (bagging)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trains on a random sample of rows, drawn with replacement.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087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feature subset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split, a tree considers only a random subset of features.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0" y="150876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predictions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97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majority vote.  Regression: average of tree outputs.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+ different features per tree → diverse trees → errors average out.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Should We Use Random Forest?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1097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Churn / Not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Pass / Fail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→ Spam / Not spam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→ Disease / None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→ Approved / Rejected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34747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88720"/>
            <a:ext cx="2651760" cy="10972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88720"/>
            <a:ext cx="2651760" cy="1097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features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2024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Example: Pass or Fail?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914400"/>
                <a:gridCol w="128016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Prev. 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8872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06440" y="1188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student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= 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= 78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marks = 62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5 trees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3063240"/>
            <a:ext cx="548640" cy="594360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272784" y="3063240"/>
            <a:ext cx="548640" cy="594360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76288" y="3063240"/>
            <a:ext cx="548640" cy="594360"/>
          </a:xfrm>
          <a:prstGeom prst="rect">
            <a:avLst/>
          </a:prstGeom>
          <a:solidFill>
            <a:srgbClr val="FBEA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479792" y="3063240"/>
            <a:ext cx="548640" cy="594360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083296" y="3063240"/>
            <a:ext cx="548640" cy="594360"/>
          </a:xfrm>
          <a:prstGeom prst="rect">
            <a:avLst/>
          </a:prstGeom>
          <a:solidFill>
            <a:srgbClr val="E6F3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0" y="3840480"/>
            <a:ext cx="3017520" cy="822960"/>
          </a:xfrm>
          <a:prstGeom prst="roundRect">
            <a:avLst>
              <a:gd name="adj" fmla="val 10000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6928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voting → PASS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52728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52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32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430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overfitting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14300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many trees beats a single tree.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84248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84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32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18745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accuracy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8745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structured / tabular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715768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32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6060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&amp; regression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6060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/ RandomForestRegressor.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447288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32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375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scaling needed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33375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Tree-based: StandardScaler is generally unnecessary.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178808"/>
            <a:ext cx="402336" cy="40233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32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069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406908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matter most.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99032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32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computation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234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100–500 trees need more compute than one tree.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67712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32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interpretable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 is easy to visualize; 100 trees are hard to explain.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36392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32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model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971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→ bigger model, more memory.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005072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232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be slower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840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Training/prediction slower, especially on large data with many trees.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vs Random Forest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understand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understand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overfit easily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reduces overfitting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Faster, lower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slower, higher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&amp;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&amp;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06240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663440" y="4206240"/>
            <a:ext cx="4023360" cy="548640"/>
          </a:xfrm>
          <a:prstGeom prst="roundRect">
            <a:avLst>
              <a:gd name="adj" fmla="val 15000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one expert answers.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many experts, majority wins 🌳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n_estimators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Decision Trees inside the forest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108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840480" y="118872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2857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rule. Test values and pick where performance becomes stable — here 100 or 200 is reasonable.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Select n_estimators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stable, generally better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46320" y="1188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also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time and more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64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n_estimators=100, random_state=42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47472" cy="3474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64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803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10, 50, 100, 200, 300, 500 and compare validation scores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64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375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value where performance stabilizes — don't blindly use 500 or 1000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47472" cy="3474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64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7947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 from row count: 1,000 or 100,000 rows can both start at 100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64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2519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 projects: cross-validation / GridSearchCV can find it automatically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Hyperparameters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n_estimators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depth of each tree (limits overfitting)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considered at each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 / min_samples_leaf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samples to split / to keep in a 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trees train on bootstrap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oob_score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using out-of-bag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imbalanced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&amp; OOB Score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188720"/>
            <a:ext cx="3383280" cy="1280160"/>
          </a:xfrm>
          <a:prstGeom prst="roundRect">
            <a:avLst>
              <a:gd name="adj" fmla="val 6429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40680" y="1188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is the most useful feature (0.52). Importances sum to 1.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03520" y="2651760"/>
            <a:ext cx="3383280" cy="1280160"/>
          </a:xfrm>
          <a:prstGeom prst="roundRect">
            <a:avLst>
              <a:gd name="adj" fmla="val 6429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40680" y="26517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score: each tree skips ~⅓ of rows; those out-of-bag rows give a free validation estimate.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Impurity-based importance can favor high-cardinality features; check with permutation importance.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Usage in scikit-learn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754880" cy="2926080"/>
          </a:xfrm>
          <a:prstGeom prst="roundRect">
            <a:avLst>
              <a:gd name="adj" fmla="val 2813"/>
            </a:avLst>
          </a:prstGeom>
          <a:solidFill>
            <a:srgbClr val="123524"/>
          </a:solidFill>
          <a:ln w="12700">
            <a:solidFill>
              <a:srgbClr val="12352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RandomForestClassifier(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model.predict(X_test)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model.feature_importances_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0" y="1280160"/>
            <a:ext cx="3200400" cy="640080"/>
          </a:xfrm>
          <a:prstGeom prst="roundRect">
            <a:avLst>
              <a:gd name="adj" fmla="val 12857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62356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RandomForestRegressor for numeric targets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2029968"/>
            <a:ext cx="3200400" cy="640080"/>
          </a:xfrm>
          <a:prstGeom prst="roundRect">
            <a:avLst>
              <a:gd name="adj" fmla="val 12857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623560" y="202996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StandardScaler required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2779776"/>
            <a:ext cx="3200400" cy="640080"/>
          </a:xfrm>
          <a:prstGeom prst="roundRect">
            <a:avLst>
              <a:gd name="adj" fmla="val 12857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23560" y="27797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with GridSearchCV / cross-validation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3529584"/>
            <a:ext cx="3200400" cy="640080"/>
          </a:xfrm>
          <a:prstGeom prst="roundRect">
            <a:avLst>
              <a:gd name="adj" fmla="val 12857"/>
            </a:avLst>
          </a:prstGeom>
          <a:solidFill>
            <a:srgbClr val="DDEFE3"/>
          </a:solidFill>
          <a:ln w="12700">
            <a:solidFill>
              <a:srgbClr val="DDEF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623560" y="352958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held-out test data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to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vs boosting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2344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trains trees independently (parallel) and averages them. Boosting (e.g. Gradient Boosting) builds trees sequentially, each correcting the last.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limits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3774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cannot predict outside the range of training targets (no extrapolation).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5204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Imbalanced data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5204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class_weight or resampling, and metrics beyond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= many decision trees + voting (or averaging for regression)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random features make trees diverse and reduce overfitting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needed; gives feature importance; costlier and less interpretable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n_estimators by testing — start at 100, stop where accuracy plateaus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Forest</dc:title>
  <dc:subject>PptxGenJS Presentation</dc:subject>
  <dc:creator>PptxGenJS</dc:creator>
  <cp:lastModifiedBy>PptxGenJS</cp:lastModifiedBy>
  <cp:revision>1</cp:revision>
  <dcterms:created xsi:type="dcterms:W3CDTF">2026-10-26T09:39:01Z</dcterms:created>
  <dcterms:modified xsi:type="dcterms:W3CDTF">2026-10-26T09:39:01Z</dcterms:modified>
</cp:coreProperties>
</file>