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Salary (actual)</c:v>
                </c:pt>
              </c:strCache>
            </c:strRef>
          </c:tx>
          <c:spPr>
            <a:solidFill>
              <a:srgbClr val="B85042"/>
            </a:solidFill>
            <a:ln w="31750" cap="flat">
              <a:solidFill>
                <a:srgbClr val="B850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</c:v>
                </c:pt>
                <c:pt idx="1">
                  <c:v>24</c:v>
                </c:pt>
                <c:pt idx="2">
                  <c:v>28</c:v>
                </c:pt>
                <c:pt idx="3">
                  <c:v>40</c:v>
                </c:pt>
                <c:pt idx="4">
                  <c:v>65</c:v>
                </c:pt>
                <c:pt idx="5">
                  <c:v>95</c:v>
                </c:pt>
                <c:pt idx="6">
                  <c:v>140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Linear fit (poor)</c:v>
                </c:pt>
              </c:strCache>
            </c:strRef>
          </c:tx>
          <c:spPr>
            <a:solidFill>
              <a:srgbClr val="065A82"/>
            </a:solidFill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</c:v>
                </c:pt>
                <c:pt idx="1">
                  <c:v>30</c:v>
                </c:pt>
                <c:pt idx="2">
                  <c:v>50</c:v>
                </c:pt>
                <c:pt idx="3">
                  <c:v>70</c:v>
                </c:pt>
                <c:pt idx="4">
                  <c:v>90</c:v>
                </c:pt>
                <c:pt idx="5">
                  <c:v>110</c:v>
                </c:pt>
                <c:pt idx="6">
                  <c:v>130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9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79"/>
                    </a:solidFill>
                    <a:latin typeface="Arial"/>
                  </a:rPr>
                  <a:t>Experience (yrs)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253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Salary (actual)</c:v>
                </c:pt>
              </c:strCache>
            </c:strRef>
          </c:tx>
          <c:spPr>
            <a:solidFill>
              <a:srgbClr val="B85042"/>
            </a:solidFill>
            <a:ln w="31750" cap="flat">
              <a:solidFill>
                <a:srgbClr val="B850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</c:v>
                </c:pt>
                <c:pt idx="1">
                  <c:v>24</c:v>
                </c:pt>
                <c:pt idx="2">
                  <c:v>28</c:v>
                </c:pt>
                <c:pt idx="3">
                  <c:v>40</c:v>
                </c:pt>
                <c:pt idx="4">
                  <c:v>65</c:v>
                </c:pt>
                <c:pt idx="5">
                  <c:v>95</c:v>
                </c:pt>
                <c:pt idx="6">
                  <c:v>140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Polynomial fit</c:v>
                </c:pt>
              </c:strCache>
            </c:strRef>
          </c:tx>
          <c:spPr>
            <a:solidFill>
              <a:srgbClr val="02C39A"/>
            </a:solidFill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21</c:v>
                </c:pt>
                <c:pt idx="1">
                  <c:v>25</c:v>
                </c:pt>
                <c:pt idx="2">
                  <c:v>31</c:v>
                </c:pt>
                <c:pt idx="3">
                  <c:v>42</c:v>
                </c:pt>
                <c:pt idx="4">
                  <c:v>63</c:v>
                </c:pt>
                <c:pt idx="5">
                  <c:v>93</c:v>
                </c:pt>
                <c:pt idx="6">
                  <c:v>138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9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79"/>
                    </a:solidFill>
                    <a:latin typeface="Arial"/>
                  </a:rPr>
                  <a:t>Experience (yrs)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253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Arial"/>
              </a:rPr>
              <a:t>Temperature (°C) vs. Sales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Sales</c:v>
                </c:pt>
              </c:strCache>
            </c:strRef>
          </c:tx>
          <c:spPr>
            <a:solidFill>
              <a:srgbClr val="21295C"/>
            </a:solidFill>
            <a:ln w="31750" cap="flat">
              <a:solidFill>
                <a:srgbClr val="2129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1295C"/>
              </a:solidFill>
              <a:ln w="9525" cap="flat">
                <a:solidFill>
                  <a:srgbClr val="2129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15</c:v>
                  </c:pt>
                  <c:pt idx="1">
                    <c:v>18</c:v>
                  </c:pt>
                  <c:pt idx="2">
                    <c:v>20</c:v>
                  </c:pt>
                  <c:pt idx="3">
                    <c:v>22</c:v>
                  </c:pt>
                  <c:pt idx="4">
                    <c:v>25</c:v>
                  </c:pt>
                  <c:pt idx="5">
                    <c:v>27</c:v>
                  </c:pt>
                  <c:pt idx="6">
                    <c:v>28</c:v>
                  </c:pt>
                  <c:pt idx="7">
                    <c:v>30</c:v>
                  </c:pt>
                  <c:pt idx="8">
                    <c:v>32</c:v>
                  </c:pt>
                  <c:pt idx="9">
                    <c:v>35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130</c:v>
                </c:pt>
                <c:pt idx="2">
                  <c:v>160</c:v>
                </c:pt>
                <c:pt idx="3">
                  <c:v>200</c:v>
                </c:pt>
                <c:pt idx="4">
                  <c:v>270</c:v>
                </c:pt>
                <c:pt idx="5">
                  <c:v/>
                </c:pt>
                <c:pt idx="6">
                  <c:v>350</c:v>
                </c:pt>
                <c:pt idx="7">
                  <c:v>420</c:v>
                </c:pt>
                <c:pt idx="8">
                  <c:v>500</c:v>
                </c:pt>
                <c:pt idx="9">
                  <c:v>650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Linear Fit</c:v>
                </c:pt>
              </c:strCache>
            </c:strRef>
          </c:tx>
          <c:spPr>
            <a:solidFill>
              <a:srgbClr val="B85042"/>
            </a:solidFill>
            <a:ln w="31750" cap="flat">
              <a:solidFill>
                <a:srgbClr val="B850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15</c:v>
                  </c:pt>
                  <c:pt idx="1">
                    <c:v>18</c:v>
                  </c:pt>
                  <c:pt idx="2">
                    <c:v>20</c:v>
                  </c:pt>
                  <c:pt idx="3">
                    <c:v>22</c:v>
                  </c:pt>
                  <c:pt idx="4">
                    <c:v>25</c:v>
                  </c:pt>
                  <c:pt idx="5">
                    <c:v>27</c:v>
                  </c:pt>
                  <c:pt idx="6">
                    <c:v>28</c:v>
                  </c:pt>
                  <c:pt idx="7">
                    <c:v>30</c:v>
                  </c:pt>
                  <c:pt idx="8">
                    <c:v>32</c:v>
                  </c:pt>
                  <c:pt idx="9">
                    <c:v>35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40</c:v>
                </c:pt>
                <c:pt idx="1">
                  <c:v>121</c:v>
                </c:pt>
                <c:pt idx="2">
                  <c:v>174</c:v>
                </c:pt>
                <c:pt idx="3">
                  <c:v>228</c:v>
                </c:pt>
                <c:pt idx="4">
                  <c:v>309</c:v>
                </c:pt>
                <c:pt idx="5">
                  <c:v>363</c:v>
                </c:pt>
                <c:pt idx="6">
                  <c:v>390</c:v>
                </c:pt>
                <c:pt idx="7">
                  <c:v>443</c:v>
                </c:pt>
                <c:pt idx="8">
                  <c:v>497</c:v>
                </c:pt>
                <c:pt idx="9">
                  <c:v>578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Polynomial Fit</c:v>
                </c:pt>
              </c:strCache>
            </c:strRef>
          </c:tx>
          <c:spPr>
            <a:solidFill>
              <a:srgbClr val="02C39A"/>
            </a:solidFill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15</c:v>
                  </c:pt>
                  <c:pt idx="1">
                    <c:v>18</c:v>
                  </c:pt>
                  <c:pt idx="2">
                    <c:v>20</c:v>
                  </c:pt>
                  <c:pt idx="3">
                    <c:v>22</c:v>
                  </c:pt>
                  <c:pt idx="4">
                    <c:v>25</c:v>
                  </c:pt>
                  <c:pt idx="5">
                    <c:v>27</c:v>
                  </c:pt>
                  <c:pt idx="6">
                    <c:v>28</c:v>
                  </c:pt>
                  <c:pt idx="7">
                    <c:v>30</c:v>
                  </c:pt>
                  <c:pt idx="8">
                    <c:v>32</c:v>
                  </c:pt>
                  <c:pt idx="9">
                    <c:v>35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104</c:v>
                </c:pt>
                <c:pt idx="1">
                  <c:v>130</c:v>
                </c:pt>
                <c:pt idx="2">
                  <c:v>158</c:v>
                </c:pt>
                <c:pt idx="3">
                  <c:v>194</c:v>
                </c:pt>
                <c:pt idx="4">
                  <c:v>265</c:v>
                </c:pt>
                <c:pt idx="5">
                  <c:v>323</c:v>
                </c:pt>
                <c:pt idx="6">
                  <c:v>355</c:v>
                </c:pt>
                <c:pt idx="7">
                  <c:v>426</c:v>
                </c:pt>
                <c:pt idx="8">
                  <c:v>506</c:v>
                </c:pt>
                <c:pt idx="9">
                  <c:v>642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53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377440" cy="237744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5120640"/>
            <a:ext cx="2743200" cy="2743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ALGORITHMS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Polynomial Regression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0896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curves instead of straight lines — from equations to a real prediction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114800"/>
            <a:ext cx="1810512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11480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&amp; Curves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24912" y="4114800"/>
            <a:ext cx="1810512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24912" y="411480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Risk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18304" y="411480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18304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vs Polynomial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95744" y="4114800"/>
            <a:ext cx="1618488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95744" y="411480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FOUNDATIONS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Polynomial Regression?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 </a:t>
            </a:r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used when the relationship between the independent variable (X) and dependent variable (Y) is non-linear / curved.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44068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60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／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5603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Instead of fitting only a line: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4892040" cy="777240"/>
          </a:xfrm>
          <a:prstGeom prst="roundRect">
            <a:avLst>
              <a:gd name="adj" fmla="val 9412"/>
            </a:avLst>
          </a:prstGeom>
          <a:solidFill>
            <a:srgbClr val="E8F1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2461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b₀ + b₁x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1605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→ fits a straight line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709160"/>
            <a:ext cx="4892040" cy="0"/>
          </a:xfrm>
          <a:prstGeom prst="line">
            <a:avLst/>
          </a:prstGeom>
          <a:noFill/>
          <a:ln w="12700">
            <a:solidFill>
              <a:srgbClr val="DCE6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8463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add powers of X: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5212080"/>
            <a:ext cx="4892040" cy="685800"/>
          </a:xfrm>
          <a:prstGeom prst="roundRect">
            <a:avLst>
              <a:gd name="adj" fmla="val 10667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b₀+b₁x+b₂x²+b₃x³+⋯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63640" y="233172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37960" y="2514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Meaning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37960" y="3108960"/>
            <a:ext cx="4846320" cy="1280160"/>
          </a:xfrm>
          <a:prstGeom prst="roundRect">
            <a:avLst>
              <a:gd name="adj" fmla="val 7143"/>
            </a:avLst>
          </a:prstGeom>
          <a:solidFill>
            <a:srgbClr val="065A82"/>
          </a:solidFill>
          <a:ln/>
        </p:spPr>
      </p:sp>
      <p:sp>
        <p:nvSpPr>
          <p:cNvPr id="19" name="Shape 17"/>
          <p:cNvSpPr/>
          <p:nvPr/>
        </p:nvSpPr>
        <p:spPr>
          <a:xfrm>
            <a:off x="6766560" y="32918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665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―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32918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8404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straight line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37960" y="4572000"/>
            <a:ext cx="4846320" cy="1280160"/>
          </a:xfrm>
          <a:prstGeom prst="roundRect">
            <a:avLst>
              <a:gd name="adj" fmla="val 7143"/>
            </a:avLst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6766560" y="475488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〰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47548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Polynomial Regression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5303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curve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FOUNDATIONS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Linear Regression Sometimes Fails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we want to predict salary based on years of experience.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1214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straight line may not fit the data well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77240" y="2560320"/>
          <a:ext cx="49834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263640" y="196596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537960" y="21214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Polynomial Regression captures the curve</a:t>
            </a:r>
            <a:endParaRPr lang="en-US" sz="14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492240" y="2560320"/>
          <a:ext cx="49377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MODEL COMPLEXITY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Degree in Polynomial Regression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3611880" cy="502920"/>
          </a:xfrm>
          <a:prstGeom prst="roundRect">
            <a:avLst>
              <a:gd name="adj" fmla="val 21818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361188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5087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Degree 1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9456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b₀+b₁x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718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basically Linear Regression.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50876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508760"/>
            <a:ext cx="3611880" cy="502920"/>
          </a:xfrm>
          <a:prstGeom prst="roundRect">
            <a:avLst>
              <a:gd name="adj" fmla="val 21818"/>
            </a:avLst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3400" y="1783080"/>
            <a:ext cx="361188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43400" y="15087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Degree 2 — Quadratic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19456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b₀+b₁x+b₂x²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9718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simple curve.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150876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1508760"/>
            <a:ext cx="3611880" cy="502920"/>
          </a:xfrm>
          <a:prstGeom prst="roundRect">
            <a:avLst>
              <a:gd name="adj" fmla="val 21818"/>
            </a:avLst>
          </a:prstGeom>
          <a:solidFill>
            <a:srgbClr val="21295C"/>
          </a:solidFill>
          <a:ln/>
        </p:spPr>
      </p:sp>
      <p:sp>
        <p:nvSpPr>
          <p:cNvPr id="18" name="Shape 16"/>
          <p:cNvSpPr/>
          <p:nvPr/>
        </p:nvSpPr>
        <p:spPr>
          <a:xfrm>
            <a:off x="8138160" y="1783080"/>
            <a:ext cx="3611880" cy="228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138160" y="15087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Degree 3 — Cubic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19456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b₀+b₁x+b₂x²+b₃x³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29718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capture more complex curves.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B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Degree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45262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b₀+b₁x+b₂x²+b₃x³+b₄x⁴+⋯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955280" y="4251960"/>
            <a:ext cx="3429000" cy="1005840"/>
          </a:xfrm>
          <a:prstGeom prst="roundRect">
            <a:avLst>
              <a:gd name="adj" fmla="val 9091"/>
            </a:avLst>
          </a:prstGeom>
          <a:solidFill>
            <a:srgbClr val="B8504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955280" y="425196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flexibility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greater overfitting risk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15385"/>
            </a:avLst>
          </a:prstGeom>
          <a:solidFill>
            <a:srgbClr val="E8F1F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56235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degree balances fitting the curve against overfitting the noise.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WORKED EXAMPLE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vs. Ice Cream Sales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ice-cream shop records daily temperature and sales.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62356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Recorded Data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507492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606040"/>
            <a:ext cx="25374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°C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360420" y="2606040"/>
            <a:ext cx="25374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971800"/>
            <a:ext cx="50749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971800"/>
            <a:ext cx="2537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360420" y="2971800"/>
            <a:ext cx="2537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282696"/>
            <a:ext cx="5074920" cy="310896"/>
          </a:xfrm>
          <a:prstGeom prst="rect">
            <a:avLst/>
          </a:prstGeom>
          <a:solidFill>
            <a:srgbClr val="E8F1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282696"/>
            <a:ext cx="2537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360420" y="3282696"/>
            <a:ext cx="2537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3593592"/>
            <a:ext cx="50749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3593592"/>
            <a:ext cx="2537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360420" y="3593592"/>
            <a:ext cx="2537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3904488"/>
            <a:ext cx="5074920" cy="310896"/>
          </a:xfrm>
          <a:prstGeom prst="rect">
            <a:avLst/>
          </a:prstGeom>
          <a:solidFill>
            <a:srgbClr val="E8F1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904488"/>
            <a:ext cx="2537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360420" y="3904488"/>
            <a:ext cx="2537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4215384"/>
            <a:ext cx="50749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4215384"/>
            <a:ext cx="2537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360420" y="4215384"/>
            <a:ext cx="2537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2960" y="4526280"/>
            <a:ext cx="5074920" cy="310896"/>
          </a:xfrm>
          <a:prstGeom prst="rect">
            <a:avLst/>
          </a:prstGeom>
          <a:solidFill>
            <a:srgbClr val="E8F1F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4526280"/>
            <a:ext cx="2537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3360420" y="4526280"/>
            <a:ext cx="2537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60" y="4837176"/>
            <a:ext cx="50749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4837176"/>
            <a:ext cx="2537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3360420" y="4837176"/>
            <a:ext cx="2537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22960" y="5148072"/>
            <a:ext cx="5074920" cy="310896"/>
          </a:xfrm>
          <a:prstGeom prst="rect">
            <a:avLst/>
          </a:prstGeom>
          <a:solidFill>
            <a:srgbClr val="E8F1F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960" y="5148072"/>
            <a:ext cx="2537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3360420" y="5148072"/>
            <a:ext cx="2537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22960" y="5458968"/>
            <a:ext cx="50749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2960" y="5458968"/>
            <a:ext cx="2537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3360420" y="5458968"/>
            <a:ext cx="2537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22960" y="5769864"/>
            <a:ext cx="5074920" cy="0"/>
          </a:xfrm>
          <a:prstGeom prst="line">
            <a:avLst/>
          </a:prstGeom>
          <a:noFill/>
          <a:ln w="12700">
            <a:solidFill>
              <a:srgbClr val="DCE6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0" y="2011680"/>
            <a:ext cx="5212080" cy="4160520"/>
          </a:xfrm>
          <a:prstGeom prst="roundRect">
            <a:avLst>
              <a:gd name="adj" fmla="val 2637"/>
            </a:avLst>
          </a:prstGeom>
          <a:solidFill>
            <a:srgbClr val="21295C"/>
          </a:solidFill>
          <a:ln/>
        </p:spPr>
      </p:sp>
      <p:sp>
        <p:nvSpPr>
          <p:cNvPr id="39" name="Shape 37"/>
          <p:cNvSpPr/>
          <p:nvPr/>
        </p:nvSpPr>
        <p:spPr>
          <a:xfrm>
            <a:off x="6675120" y="22860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6751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41" name="Text 39"/>
          <p:cNvSpPr txBox="1"/>
          <p:nvPr/>
        </p:nvSpPr>
        <p:spPr>
          <a:xfrm>
            <a:off x="7360920" y="22860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Want to Predict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675120" y="3017520"/>
            <a:ext cx="470916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903720" y="301752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temperature is 27°C,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ice creams might be sold?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6675120" y="44348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may not be perfectly linear — notice how sales accelerate as temperature rises.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675120" y="5349240"/>
            <a:ext cx="470916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675120" y="54864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compare Linear Regression vs. Polynomial Regression on this data.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WORKED EXAMPLE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vs. Polynomial Fit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04088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77240" y="1645920"/>
          <a:ext cx="658368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1463040"/>
            <a:ext cx="3794760" cy="2194560"/>
          </a:xfrm>
          <a:prstGeom prst="roundRect">
            <a:avLst>
              <a:gd name="adj" fmla="val 5000"/>
            </a:avLst>
          </a:prstGeom>
          <a:solidFill>
            <a:srgbClr val="B8504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46720" y="16459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at 27°C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2286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363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31089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B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creams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818120" y="3840480"/>
            <a:ext cx="3794760" cy="2194560"/>
          </a:xfrm>
          <a:prstGeom prst="roundRect">
            <a:avLst>
              <a:gd name="adj" fmla="val 5000"/>
            </a:avLst>
          </a:prstGeom>
          <a:solidFill>
            <a:srgbClr val="02C39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46720" y="402336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at 27°C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466344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323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54864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creams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2026-09-21T02:48:54Z</dcterms:created>
  <dcterms:modified xsi:type="dcterms:W3CDTF">2026-09-21T02:48:54Z</dcterms:modified>
</cp:coreProperties>
</file>